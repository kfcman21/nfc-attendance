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7562850" cy="10688638"/>
  <p:notesSz cx="10688638" cy="756285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4" d="100"/>
          <a:sy n="104" d="100"/>
        </p:scale>
        <p:origin x="4040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527991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166625"/>
            <a:ext cx="640080" cy="640080"/>
          </a:xfrm>
          <a:prstGeom prst="roundRect">
            <a:avLst>
              <a:gd name="adj" fmla="val 21429"/>
            </a:avLst>
          </a:prstGeom>
          <a:solidFill>
            <a:srgbClr val="FFD166"/>
          </a:solidFill>
          <a:ln w="19050">
            <a:solidFill>
              <a:srgbClr val="232B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1166625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32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34440" y="1166625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32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찾기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943865"/>
            <a:ext cx="6647688" cy="0"/>
          </a:xfrm>
          <a:prstGeom prst="line">
            <a:avLst/>
          </a:prstGeom>
          <a:noFill/>
          <a:ln w="9525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457200" y="2172465"/>
            <a:ext cx="6647688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5875">
            <a:solidFill>
              <a:srgbClr val="232B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94360" y="2245617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32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분반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280160" y="2492505"/>
            <a:ext cx="2011680" cy="0"/>
          </a:xfrm>
          <a:prstGeom prst="line">
            <a:avLst/>
          </a:prstGeom>
          <a:noFill/>
          <a:ln w="12700">
            <a:solidFill>
              <a:srgbClr val="232B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3474720" y="2245617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32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모둠명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51960" y="2492505"/>
            <a:ext cx="2852928" cy="0"/>
          </a:xfrm>
          <a:prstGeom prst="line">
            <a:avLst/>
          </a:prstGeom>
          <a:noFill/>
          <a:ln w="12700">
            <a:solidFill>
              <a:srgbClr val="232B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594360" y="2611377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32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팀원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280160" y="2858265"/>
            <a:ext cx="5824728" cy="0"/>
          </a:xfrm>
          <a:prstGeom prst="line">
            <a:avLst/>
          </a:prstGeom>
          <a:noFill/>
          <a:ln w="12700">
            <a:solidFill>
              <a:srgbClr val="232B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457200" y="3132585"/>
            <a:ext cx="1490472" cy="292608"/>
          </a:xfrm>
          <a:prstGeom prst="roundRect">
            <a:avLst>
              <a:gd name="adj" fmla="val 18750"/>
            </a:avLst>
          </a:prstGeom>
          <a:solidFill>
            <a:srgbClr val="232B3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57200" y="3132585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문제 정의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084832" y="3132585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E76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누구의 어떤 페인포인트인지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516633"/>
            <a:ext cx="6647688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457200" y="3845817"/>
            <a:ext cx="6647688" cy="0"/>
          </a:xfrm>
          <a:prstGeom prst="line">
            <a:avLst/>
          </a:prstGeom>
          <a:noFill/>
          <a:ln w="6350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457200" y="4175001"/>
            <a:ext cx="6647688" cy="0"/>
          </a:xfrm>
          <a:prstGeom prst="line">
            <a:avLst/>
          </a:prstGeom>
          <a:noFill/>
          <a:ln w="6350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457200" y="4504185"/>
            <a:ext cx="6647688" cy="0"/>
          </a:xfrm>
          <a:prstGeom prst="line">
            <a:avLst/>
          </a:prstGeom>
          <a:noFill/>
          <a:ln w="6350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457200" y="5061969"/>
            <a:ext cx="1490472" cy="292608"/>
          </a:xfrm>
          <a:prstGeom prst="roundRect">
            <a:avLst>
              <a:gd name="adj" fmla="val 18750"/>
            </a:avLst>
          </a:prstGeom>
          <a:solidFill>
            <a:srgbClr val="232B3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457200" y="5061969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지금 방식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084832" y="5061969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E76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어떻게 하고 있는지 · 불편한 점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5446017"/>
            <a:ext cx="6647688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457200" y="5775201"/>
            <a:ext cx="6647688" cy="0"/>
          </a:xfrm>
          <a:prstGeom prst="line">
            <a:avLst/>
          </a:prstGeom>
          <a:noFill/>
          <a:ln w="6350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457200" y="6104385"/>
            <a:ext cx="6647688" cy="0"/>
          </a:xfrm>
          <a:prstGeom prst="line">
            <a:avLst/>
          </a:prstGeom>
          <a:noFill/>
          <a:ln w="6350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457200" y="6662169"/>
            <a:ext cx="1197864" cy="292608"/>
          </a:xfrm>
          <a:prstGeom prst="roundRect">
            <a:avLst>
              <a:gd name="adj" fmla="val 18750"/>
            </a:avLst>
          </a:prstGeom>
          <a:solidFill>
            <a:srgbClr val="232B3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457200" y="6662169"/>
            <a:ext cx="1197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사용자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792224" y="6662169"/>
            <a:ext cx="5312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E76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· 어떤 상황에서 쓰는지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7046217"/>
            <a:ext cx="6647688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457200" y="7375401"/>
            <a:ext cx="6647688" cy="0"/>
          </a:xfrm>
          <a:prstGeom prst="line">
            <a:avLst/>
          </a:prstGeom>
          <a:noFill/>
          <a:ln w="6350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457200" y="7704585"/>
            <a:ext cx="6647688" cy="0"/>
          </a:xfrm>
          <a:prstGeom prst="line">
            <a:avLst/>
          </a:prstGeom>
          <a:noFill/>
          <a:ln w="6350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457200" y="10186416"/>
            <a:ext cx="6647688" cy="0"/>
          </a:xfrm>
          <a:prstGeom prst="line">
            <a:avLst/>
          </a:prstGeom>
          <a:noFill/>
          <a:ln w="9525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457200" y="10232136"/>
            <a:ext cx="6099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6AB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기업 연계 정보교원 역량강화 프로젝트 · 해커톤 팀 기획서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556248" y="102321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6AB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/ 4</a:t>
            </a:r>
            <a:endParaRPr lang="en-US" sz="900" dirty="0"/>
          </a:p>
        </p:txBody>
      </p:sp>
      <p:sp>
        <p:nvSpPr>
          <p:cNvPr id="37" name="Text 2">
            <a:extLst>
              <a:ext uri="{FF2B5EF4-FFF2-40B4-BE49-F238E27FC236}">
                <a16:creationId xmlns:a16="http://schemas.microsoft.com/office/drawing/2014/main" id="{51BDD9AB-0583-82DD-1996-FE4B4560458F}"/>
              </a:ext>
            </a:extLst>
          </p:cNvPr>
          <p:cNvSpPr/>
          <p:nvPr/>
        </p:nvSpPr>
        <p:spPr>
          <a:xfrm>
            <a:off x="0" y="0"/>
            <a:ext cx="7562850" cy="640080"/>
          </a:xfrm>
          <a:prstGeom prst="rect">
            <a:avLst/>
          </a:prstGeom>
          <a:solidFill>
            <a:schemeClr val="bg2">
              <a:lumMod val="25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2600" b="1" dirty="0" err="1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</a:rPr>
              <a:t>해커톤</a:t>
            </a:r>
            <a:r>
              <a:rPr lang="ko-KR" altLang="en-US" sz="2600" b="1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</a:rPr>
              <a:t> 팀 활동 기획서</a:t>
            </a:r>
            <a:endParaRPr lang="en-US" sz="2600" dirty="0">
              <a:solidFill>
                <a:schemeClr val="bg1"/>
              </a:solidFill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97280" y="1444752"/>
            <a:ext cx="1371600" cy="27432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defRPr sz="1000" b="1">
                <a:solidFill>
                  <a:srgbClr val="0050B4"/>
                </a:solidFill>
                <a:latin typeface="Malgun Gothic"/>
              </a:defRPr>
            </a:pPr>
            <a:r>
              <a:t>초등 정보 융합 분반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1444752"/>
            <a:ext cx="2011680" cy="27432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defRPr sz="1000" b="1">
                <a:solidFill>
                  <a:srgbClr val="0050B4"/>
                </a:solidFill>
                <a:latin typeface="Malgun Gothic"/>
              </a:defRPr>
            </a:pPr>
            <a:r>
              <a:t>NFC 에듀태그 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" y="1755648"/>
            <a:ext cx="5303520" cy="27432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defRPr sz="950" b="1">
                <a:solidFill>
                  <a:srgbClr val="0050B4"/>
                </a:solidFill>
                <a:latin typeface="Malgun Gothic"/>
              </a:defRPr>
            </a:pPr>
            <a:r>
              <a:t>박찬규(대표/개발), 팀원A(교육과정), 팀원B(디자인/검증)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2423160"/>
            <a:ext cx="5669280" cy="10972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defRPr sz="950" b="0">
                <a:solidFill>
                  <a:srgbClr val="141414"/>
                </a:solidFill>
                <a:latin typeface="Malgun Gothic"/>
              </a:defRPr>
            </a:pPr>
            <a:r>
              <a:t>• 교사의 과중한 학급/과학실 관리 행정력 소모: 매일 아침 학생 출결 체크, 지각생 파악, 학생 마음 상태 파악의 번거로움.</a:t>
            </a:r>
            <a:br/>
            <a:r>
              <a:t>• 지능형 과학실 탐구 이력 및 안전 관리 부재: 과학실 스테이션(MBL, 현미경 등)별 탐구 이력 관리의 어려움 및 고가 교구/화학 시약(MSDS) 대여/반납과 안전 수칙 안내의 형식화.</a:t>
            </a:r>
            <a:br/>
            <a:r>
              <a:t>• 분절된 학급 도구: 출석부, 독서 통장, 체육(PAPS) 측정, 학급 화폐가 제각각 분리되어 교사 업무 피로도 누적.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3977639"/>
            <a:ext cx="5669280" cy="10972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defRPr sz="950" b="0">
                <a:solidFill>
                  <a:srgbClr val="141414"/>
                </a:solidFill>
                <a:latin typeface="Malgun Gothic"/>
              </a:defRPr>
            </a:pPr>
            <a:r>
              <a:t>• 출결/감정: 종이 출석부나 나이스(NEIS) 수동 입력에 의존하여 학생의 정서 변화나 정시 등교 추이를 직관적으로 파악하기 어려움.</a:t>
            </a:r>
            <a:br/>
            <a:r>
              <a:t>• 과학실 탐구: 종이 활동지 도장 날인 및 수기 대여 대장에 의존하여 교구 분실 위험이 높고 탐구 데이터 누적 불가능.</a:t>
            </a:r>
            <a:br/>
            <a:r>
              <a:t>• 체육/독서: 초시계를 들고 수동으로 셔틀런 랩타임을 측정하거나 종이에 적어 체계적인 성장 분석이 어려움.</a:t>
            </a:r>
            <a:br/>
            <a:r>
              <a:t>• 불편한 점: 클라우드 웹앱은 교실 인터넷 불안정 시 접속이 끊기며, 학생 개인정보(이름, 사진) 유출 우려 상존.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" y="5532120"/>
            <a:ext cx="5669280" cy="100584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defRPr sz="950" b="0">
                <a:solidFill>
                  <a:srgbClr val="141414"/>
                </a:solidFill>
                <a:latin typeface="Malgun Gothic"/>
              </a:defRPr>
            </a:pPr>
            <a:r>
              <a:t>• 초·중등 교사: 아침 등교 맞이(출석/감정 AI 케어), 지능형 과학실 스테이션 탐구 수업 및 교구/시약 안전 통제, 체육 PAPS 측정, 학급 문고 및 1인 1역할 학급 화폐(지구 포인트)를 통합 정산할 때.</a:t>
            </a:r>
            <a:br/>
            <a:r>
              <a:t>• 초등학생: 등교 시, 과학실 탐구 코너 이동 시, 교구 대여 시 본인의 NFC 학생 카드를 리더기에 '톡' 태그할 때.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640080" cy="640080"/>
          </a:xfrm>
          <a:prstGeom prst="roundRect">
            <a:avLst>
              <a:gd name="adj" fmla="val 21429"/>
            </a:avLst>
          </a:prstGeom>
          <a:solidFill>
            <a:srgbClr val="7FE0C3"/>
          </a:solidFill>
          <a:ln w="19050">
            <a:solidFill>
              <a:srgbClr val="232B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32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34440" y="3657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32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기능과 자료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361688" y="5669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32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모둠명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230368" y="841248"/>
            <a:ext cx="1874520" cy="0"/>
          </a:xfrm>
          <a:prstGeom prst="line">
            <a:avLst/>
          </a:prstGeom>
          <a:noFill/>
          <a:ln w="12700">
            <a:solidFill>
              <a:srgbClr val="232B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6647688" cy="0"/>
          </a:xfrm>
          <a:prstGeom prst="line">
            <a:avLst/>
          </a:prstGeom>
          <a:noFill/>
          <a:ln w="9525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1490472" cy="292608"/>
          </a:xfrm>
          <a:prstGeom prst="roundRect">
            <a:avLst>
              <a:gd name="adj" fmla="val 18750"/>
            </a:avLst>
          </a:prstGeom>
          <a:solidFill>
            <a:srgbClr val="232B3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57200" y="137160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필요 기능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084832" y="137160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E76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기능 위주 · 한 줄에 하나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755648"/>
            <a:ext cx="6647688" cy="1975104"/>
          </a:xfrm>
          <a:prstGeom prst="rect">
            <a:avLst/>
          </a:prstGeom>
          <a:solidFill>
            <a:srgbClr val="FFFFFF"/>
          </a:solidFill>
          <a:ln w="12700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530352" y="1755648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32B33"/>
                </a:solidFill>
              </a:rPr>
              <a:t>☐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2084832"/>
            <a:ext cx="6647688" cy="0"/>
          </a:xfrm>
          <a:prstGeom prst="line">
            <a:avLst/>
          </a:prstGeom>
          <a:noFill/>
          <a:ln w="6350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530352" y="2084832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32B33"/>
                </a:solidFill>
              </a:rPr>
              <a:t>☐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414016"/>
            <a:ext cx="6647688" cy="0"/>
          </a:xfrm>
          <a:prstGeom prst="line">
            <a:avLst/>
          </a:prstGeom>
          <a:noFill/>
          <a:ln w="6350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530352" y="2414016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32B33"/>
                </a:solidFill>
              </a:rPr>
              <a:t>☐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2743200"/>
            <a:ext cx="6647688" cy="0"/>
          </a:xfrm>
          <a:prstGeom prst="line">
            <a:avLst/>
          </a:prstGeom>
          <a:noFill/>
          <a:ln w="6350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530352" y="2743200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32B33"/>
                </a:solidFill>
              </a:rPr>
              <a:t>☐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072384"/>
            <a:ext cx="6647688" cy="0"/>
          </a:xfrm>
          <a:prstGeom prst="line">
            <a:avLst/>
          </a:prstGeom>
          <a:noFill/>
          <a:ln w="6350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530352" y="3072384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32B33"/>
                </a:solidFill>
              </a:rPr>
              <a:t>☐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3401568"/>
            <a:ext cx="6647688" cy="0"/>
          </a:xfrm>
          <a:prstGeom prst="line">
            <a:avLst/>
          </a:prstGeom>
          <a:noFill/>
          <a:ln w="6350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530352" y="3401568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32B33"/>
                </a:solidFill>
              </a:rPr>
              <a:t>☐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3959352"/>
            <a:ext cx="1490472" cy="292608"/>
          </a:xfrm>
          <a:prstGeom prst="roundRect">
            <a:avLst>
              <a:gd name="adj" fmla="val 18750"/>
            </a:avLst>
          </a:prstGeom>
          <a:solidFill>
            <a:srgbClr val="232B3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457200" y="3959352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입력 자료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084832" y="3959352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E76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넣을 자료 · 데이터 · 예시 문서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4343400"/>
            <a:ext cx="6647688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457200" y="4672584"/>
            <a:ext cx="6647688" cy="0"/>
          </a:xfrm>
          <a:prstGeom prst="line">
            <a:avLst/>
          </a:prstGeom>
          <a:noFill/>
          <a:ln w="6350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457200" y="5001768"/>
            <a:ext cx="6647688" cy="0"/>
          </a:xfrm>
          <a:prstGeom prst="line">
            <a:avLst/>
          </a:prstGeom>
          <a:noFill/>
          <a:ln w="6350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457200" y="5559552"/>
            <a:ext cx="1490472" cy="292608"/>
          </a:xfrm>
          <a:prstGeom prst="roundRect">
            <a:avLst>
              <a:gd name="adj" fmla="val 18750"/>
            </a:avLst>
          </a:prstGeom>
          <a:solidFill>
            <a:srgbClr val="232B3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457200" y="5559552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만들 방식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2084832" y="5559552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E76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택1 또는 혼합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6016752"/>
            <a:ext cx="219456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9050">
            <a:solidFill>
              <a:srgbClr val="232B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749808" y="596188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32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1792224" y="6016752"/>
            <a:ext cx="219456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9050">
            <a:solidFill>
              <a:srgbClr val="232B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2084832" y="596188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32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바이브코딩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273552" y="6016752"/>
            <a:ext cx="219456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9050">
            <a:solidFill>
              <a:srgbClr val="232B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3566160" y="596188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32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혼합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57200" y="6473952"/>
            <a:ext cx="1490472" cy="292608"/>
          </a:xfrm>
          <a:prstGeom prst="roundRect">
            <a:avLst>
              <a:gd name="adj" fmla="val 18750"/>
            </a:avLst>
          </a:prstGeom>
          <a:solidFill>
            <a:srgbClr val="232B3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457200" y="6473952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 사용 도구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2084832" y="6473952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E76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쓸 도구 이름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57200" y="6858000"/>
            <a:ext cx="664768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457200" y="7187184"/>
            <a:ext cx="6647688" cy="0"/>
          </a:xfrm>
          <a:prstGeom prst="line">
            <a:avLst/>
          </a:prstGeom>
          <a:noFill/>
          <a:ln w="6350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1"/>
          <p:cNvSpPr/>
          <p:nvPr/>
        </p:nvSpPr>
        <p:spPr>
          <a:xfrm>
            <a:off x="457200" y="10186416"/>
            <a:ext cx="6647688" cy="0"/>
          </a:xfrm>
          <a:prstGeom prst="line">
            <a:avLst/>
          </a:prstGeom>
          <a:noFill/>
          <a:ln w="9525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/>
          <p:nvPr/>
        </p:nvSpPr>
        <p:spPr>
          <a:xfrm>
            <a:off x="457200" y="10232136"/>
            <a:ext cx="6099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6AB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기업 연계 정보교원 역량강화 프로젝트 · 해커톤 팀 기획서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556248" y="102321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6AB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4</a:t>
            </a:r>
            <a:endParaRPr lang="en-US" sz="900" dirty="0"/>
          </a:p>
        </p:txBody>
      </p:sp>
      <p:sp>
        <p:nvSpPr>
          <p:cNvPr id="46" name="TextBox 45"/>
          <p:cNvSpPr txBox="1"/>
          <p:nvPr/>
        </p:nvSpPr>
        <p:spPr>
          <a:xfrm>
            <a:off x="4389120" y="777240"/>
            <a:ext cx="2011680" cy="27432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defRPr sz="1000" b="1">
                <a:solidFill>
                  <a:srgbClr val="0050B4"/>
                </a:solidFill>
                <a:latin typeface="Malgun Gothic"/>
              </a:defRPr>
            </a:pPr>
            <a:r>
              <a:t>NFC 에듀태그 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4672" y="1481328"/>
            <a:ext cx="5486400" cy="219456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defRPr sz="900" b="1">
                <a:solidFill>
                  <a:srgbClr val="141414"/>
                </a:solidFill>
                <a:latin typeface="Malgun Gothic"/>
              </a:defRPr>
            </a:pPr>
            <a:r>
              <a:t>NFC 원터치 정시 출석 및 점수제: 마감시각 이전 태그 시 만점 부여 및 실시간 대시보드 시각화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3504" y="1463040"/>
            <a:ext cx="228600" cy="219456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defRPr sz="1000" b="1">
                <a:solidFill>
                  <a:srgbClr val="0078D7"/>
                </a:solidFill>
                <a:latin typeface="Malgun Gothic"/>
              </a:defRPr>
            </a:pPr>
            <a:r>
              <a:t>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4672" y="1709928"/>
            <a:ext cx="5486400" cy="219456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defRPr sz="900" b="1">
                <a:solidFill>
                  <a:srgbClr val="141414"/>
                </a:solidFill>
                <a:latin typeface="Malgun Gothic"/>
              </a:defRPr>
            </a:pPr>
            <a:r>
              <a:t>Upstage Solar AI 감정 출석부: 출석 후 기분 선택 시 초거대 AI의 맞춤형 긍정 응원 메시지 생성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3504" y="1691640"/>
            <a:ext cx="228600" cy="219456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defRPr sz="1000" b="1">
                <a:solidFill>
                  <a:srgbClr val="0078D7"/>
                </a:solidFill>
                <a:latin typeface="Malgun Gothic"/>
              </a:defRPr>
            </a:pPr>
            <a:r>
              <a:t>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4672" y="1938528"/>
            <a:ext cx="5486400" cy="219456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defRPr sz="900" b="1">
                <a:solidFill>
                  <a:srgbClr val="141414"/>
                </a:solidFill>
                <a:latin typeface="Malgun Gothic"/>
              </a:defRPr>
            </a:pPr>
            <a:r>
              <a:t>스마트 과학 탐구 패스포트: 과학실 스테이션별 NFC 태깅 미션 완주 스탬프 랠리 자동화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3504" y="1920240"/>
            <a:ext cx="228600" cy="219456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defRPr sz="1000" b="1">
                <a:solidFill>
                  <a:srgbClr val="0078D7"/>
                </a:solidFill>
                <a:latin typeface="Malgun Gothic"/>
              </a:defRPr>
            </a:pPr>
            <a:r>
              <a:t>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4672" y="2167128"/>
            <a:ext cx="5486400" cy="219456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defRPr sz="900" b="1">
                <a:solidFill>
                  <a:srgbClr val="141414"/>
                </a:solidFill>
                <a:latin typeface="Malgun Gothic"/>
              </a:defRPr>
            </a:pPr>
            <a:r>
              <a:t>스마트 교구 &amp; 시약 안전 지킴이: NFC 교구 원터치 대여/반납 및 MSDS 실험 안전 수칙 실시간 팝업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3504" y="2148840"/>
            <a:ext cx="228600" cy="219456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defRPr sz="1000" b="1">
                <a:solidFill>
                  <a:srgbClr val="0078D7"/>
                </a:solidFill>
                <a:latin typeface="Malgun Gothic"/>
              </a:defRPr>
            </a:pPr>
            <a:r>
              <a:t>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4672" y="2395728"/>
            <a:ext cx="5486400" cy="219456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defRPr sz="900" b="1">
                <a:solidFill>
                  <a:srgbClr val="141414"/>
                </a:solidFill>
                <a:latin typeface="Malgun Gothic"/>
              </a:defRPr>
            </a:pPr>
            <a:r>
              <a:t>SciBit 마이크로비트 MBL 연계: micro:bit v2 센서(온도·조도·소음·가속도) 실시간 수집 및 기록 (kfcman.link/scibit)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3504" y="2377440"/>
            <a:ext cx="228600" cy="219456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defRPr sz="1000" b="1">
                <a:solidFill>
                  <a:srgbClr val="0078D7"/>
                </a:solidFill>
                <a:latin typeface="Malgun Gothic"/>
              </a:defRPr>
            </a:pPr>
            <a:r>
              <a:t>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4672" y="2624328"/>
            <a:ext cx="5486400" cy="219456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defRPr sz="900" b="1">
                <a:solidFill>
                  <a:srgbClr val="141414"/>
                </a:solidFill>
                <a:latin typeface="Malgun Gothic"/>
              </a:defRPr>
            </a:pPr>
            <a:r>
              <a:t>SciBot 햄스터 피지컬 AI 탐사 연계: 햄스터 로봇 온실 순찰 &amp; 자율주행 탐사 미션 스탬프 발급 (kfcman.link/scibot)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3504" y="2606040"/>
            <a:ext cx="228600" cy="219456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defRPr sz="1000" b="1">
                <a:solidFill>
                  <a:srgbClr val="0078D7"/>
                </a:solidFill>
                <a:latin typeface="Malgun Gothic"/>
              </a:defRPr>
            </a:pPr>
            <a:r>
              <a:t>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4672" y="2852928"/>
            <a:ext cx="5486400" cy="219456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defRPr sz="900" b="1">
                <a:solidFill>
                  <a:srgbClr val="141414"/>
                </a:solidFill>
                <a:latin typeface="Malgun Gothic"/>
              </a:defRPr>
            </a:pPr>
            <a:r>
              <a:t>스마트 PAPS 셔틀런 &amp; 서킷: 반환점 태깅으로 왕복달리기 자동 기록 및 Solar AI 체력 코칭 리포트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3504" y="2834640"/>
            <a:ext cx="228600" cy="219456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defRPr sz="1000" b="1">
                <a:solidFill>
                  <a:srgbClr val="0078D7"/>
                </a:solidFill>
                <a:latin typeface="Malgun Gothic"/>
              </a:defRPr>
            </a:pPr>
            <a:r>
              <a:t>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4672" y="3081528"/>
            <a:ext cx="5486400" cy="219456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defRPr sz="900" b="1">
                <a:solidFill>
                  <a:srgbClr val="141414"/>
                </a:solidFill>
                <a:latin typeface="Malgun Gothic"/>
              </a:defRPr>
            </a:pPr>
            <a:r>
              <a:t>손바닥 도서관 &amp; 지구 포인트 상점: 학급문고 원터치 대여 및 1인 1역할 보상 학급 화폐 경제 실습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" y="3063240"/>
            <a:ext cx="228600" cy="219456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defRPr sz="1000" b="1">
                <a:solidFill>
                  <a:srgbClr val="0078D7"/>
                </a:solidFill>
                <a:latin typeface="Malgun Gothic"/>
              </a:defRPr>
            </a:pPr>
            <a:r>
              <a:t>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94360" y="3703320"/>
            <a:ext cx="5669280" cy="8686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defRPr sz="900" b="0">
                <a:solidFill>
                  <a:srgbClr val="141414"/>
                </a:solidFill>
                <a:latin typeface="Malgun Gothic"/>
              </a:defRPr>
            </a:pPr>
            <a:r>
              <a:t>• 학생 및 교구 데이터: 학생 번호, 카드 UID, 과학실 스테이션 정보, 교구/시약 보관 위치 및 MSDS 안전 수칙.</a:t>
            </a:r>
            <a:br/>
            <a:r>
              <a:t>• 센서 및 공공데이터: micro:bit MBL 센서값, 기상청 단기예보(기온/날씨), 에어코리아 미세먼지(PM10/PM2.5), NEIS 급식.</a:t>
            </a:r>
            <a:br/>
            <a:r>
              <a:t>• 보안 API 키: Upstage Solar API Key (AES-256-GCM 암호화 보관).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017520" y="4956048"/>
            <a:ext cx="228600" cy="22860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defRPr sz="1100" b="1">
                <a:solidFill>
                  <a:srgbClr val="0078D7"/>
                </a:solidFill>
                <a:latin typeface="Malgun Gothic"/>
              </a:defRPr>
            </a:pPr>
            <a:r>
              <a:t>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0" y="4956048"/>
            <a:ext cx="2743200" cy="27432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defRPr sz="950" b="1">
                <a:solidFill>
                  <a:srgbClr val="0050B4"/>
                </a:solidFill>
                <a:latin typeface="Malgun Gothic"/>
              </a:defRPr>
            </a:pPr>
            <a:r>
              <a:t>혼합 (Electron 바이브코딩 + Solar AI 에이전트)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94360" y="5742432"/>
            <a:ext cx="5669280" cy="50292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defRPr sz="950" b="1">
                <a:solidFill>
                  <a:srgbClr val="141414"/>
                </a:solidFill>
                <a:latin typeface="Malgun Gothic"/>
              </a:defRPr>
            </a:pPr>
            <a:r>
              <a:t>Node.js, Express, Electron, electron-builder, SQLite3, SerialPort, HTML5/CSS3(진한 굴림체), Upstage Solar LLM API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640080" cy="640080"/>
          </a:xfrm>
          <a:prstGeom prst="roundRect">
            <a:avLst>
              <a:gd name="adj" fmla="val 21429"/>
            </a:avLst>
          </a:prstGeom>
          <a:solidFill>
            <a:srgbClr val="FF8FA3"/>
          </a:solidFill>
          <a:ln w="19050">
            <a:solidFill>
              <a:srgbClr val="232B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32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34440" y="3657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32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 흐름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361688" y="5669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32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모둠명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230368" y="841248"/>
            <a:ext cx="1874520" cy="0"/>
          </a:xfrm>
          <a:prstGeom prst="line">
            <a:avLst/>
          </a:prstGeom>
          <a:noFill/>
          <a:ln w="12700">
            <a:solidFill>
              <a:srgbClr val="232B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6647688" cy="0"/>
          </a:xfrm>
          <a:prstGeom prst="line">
            <a:avLst/>
          </a:prstGeom>
          <a:noFill/>
          <a:ln w="9525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1490472" cy="292608"/>
          </a:xfrm>
          <a:prstGeom prst="roundRect">
            <a:avLst>
              <a:gd name="adj" fmla="val 18750"/>
            </a:avLst>
          </a:prstGeom>
          <a:solidFill>
            <a:srgbClr val="232B3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57200" y="137160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8. 동작 흐름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084832" y="137160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E76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단계별 내용 · 글 또는 그림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847088"/>
            <a:ext cx="1911096" cy="3291840"/>
          </a:xfrm>
          <a:prstGeom prst="roundRect">
            <a:avLst>
              <a:gd name="adj" fmla="val 2392"/>
            </a:avLst>
          </a:prstGeom>
          <a:solidFill>
            <a:srgbClr val="FFFFFF"/>
          </a:solidFill>
          <a:ln w="12700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1001268" y="1984248"/>
            <a:ext cx="822960" cy="329184"/>
          </a:xfrm>
          <a:prstGeom prst="roundRect">
            <a:avLst>
              <a:gd name="adj" fmla="val 16667"/>
            </a:avLst>
          </a:prstGeom>
          <a:solidFill>
            <a:srgbClr val="FFD16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1001268" y="1984248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32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368296" y="321868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232B33"/>
                </a:solidFill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2825496" y="1847088"/>
            <a:ext cx="1911096" cy="3291840"/>
          </a:xfrm>
          <a:prstGeom prst="roundRect">
            <a:avLst>
              <a:gd name="adj" fmla="val 2392"/>
            </a:avLst>
          </a:prstGeom>
          <a:solidFill>
            <a:srgbClr val="FFFFFF"/>
          </a:solidFill>
          <a:ln w="12700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3369564" y="1984248"/>
            <a:ext cx="822960" cy="329184"/>
          </a:xfrm>
          <a:prstGeom prst="roundRect">
            <a:avLst>
              <a:gd name="adj" fmla="val 16667"/>
            </a:avLst>
          </a:prstGeom>
          <a:solidFill>
            <a:srgbClr val="7FE0C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3369564" y="1984248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32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736592" y="321868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232B33"/>
                </a:solidFill>
              </a:rPr>
              <a:t>→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5193792" y="1847088"/>
            <a:ext cx="1911096" cy="3291840"/>
          </a:xfrm>
          <a:prstGeom prst="roundRect">
            <a:avLst>
              <a:gd name="adj" fmla="val 2392"/>
            </a:avLst>
          </a:prstGeom>
          <a:solidFill>
            <a:srgbClr val="FFFFFF"/>
          </a:solidFill>
          <a:ln w="12700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5737860" y="1984248"/>
            <a:ext cx="822960" cy="329184"/>
          </a:xfrm>
          <a:prstGeom prst="roundRect">
            <a:avLst>
              <a:gd name="adj" fmla="val 16667"/>
            </a:avLst>
          </a:prstGeom>
          <a:solidFill>
            <a:srgbClr val="FF8FA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5737860" y="1984248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32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5413248"/>
            <a:ext cx="1490472" cy="292608"/>
          </a:xfrm>
          <a:prstGeom prst="roundRect">
            <a:avLst>
              <a:gd name="adj" fmla="val 18750"/>
            </a:avLst>
          </a:prstGeom>
          <a:solidFill>
            <a:srgbClr val="232B3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457200" y="5413248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9. 멘토 질문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084832" y="5413248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E76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것 · 멘토에게 물어볼 것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5797296"/>
            <a:ext cx="6647688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457200" y="6126480"/>
            <a:ext cx="6647688" cy="0"/>
          </a:xfrm>
          <a:prstGeom prst="line">
            <a:avLst/>
          </a:prstGeom>
          <a:noFill/>
          <a:ln w="6350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457200" y="6455664"/>
            <a:ext cx="6647688" cy="0"/>
          </a:xfrm>
          <a:prstGeom prst="line">
            <a:avLst/>
          </a:prstGeom>
          <a:noFill/>
          <a:ln w="6350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457200" y="10186416"/>
            <a:ext cx="6647688" cy="0"/>
          </a:xfrm>
          <a:prstGeom prst="line">
            <a:avLst/>
          </a:prstGeom>
          <a:noFill/>
          <a:ln w="9525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457200" y="10232136"/>
            <a:ext cx="6099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6AB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기업 연계 정보교원 역량강화 프로젝트 · 해커톤 팀 기획서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556248" y="102321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6AB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4</a:t>
            </a:r>
            <a:endParaRPr lang="en-US" sz="900" dirty="0"/>
          </a:p>
        </p:txBody>
      </p:sp>
      <p:sp>
        <p:nvSpPr>
          <p:cNvPr id="31" name="TextBox 30"/>
          <p:cNvSpPr txBox="1"/>
          <p:nvPr/>
        </p:nvSpPr>
        <p:spPr>
          <a:xfrm>
            <a:off x="4389120" y="777240"/>
            <a:ext cx="2011680" cy="27432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defRPr sz="1000" b="1">
                <a:solidFill>
                  <a:srgbClr val="0050B4"/>
                </a:solidFill>
                <a:latin typeface="Malgun Gothic"/>
              </a:defRPr>
            </a:pPr>
            <a:r>
              <a:t>NFC 에듀태그 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1965960"/>
            <a:ext cx="1691640" cy="182880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defRPr sz="850" b="0">
                <a:solidFill>
                  <a:srgbClr val="141414"/>
                </a:solidFill>
                <a:latin typeface="Malgun Gothic"/>
              </a:defRPr>
            </a:pPr>
            <a:r>
              <a:t>• NFC 카드 태그</a:t>
            </a:r>
            <a:br/>
            <a:r>
              <a:t>  - 학생 카드 (식별)</a:t>
            </a:r>
            <a:br/>
            <a:r>
              <a:t>  - 스테이션 카드 (완료)</a:t>
            </a:r>
            <a:br/>
            <a:r>
              <a:t>  - 교구 카드 (대여/반납)</a:t>
            </a:r>
            <a:br/>
            <a:r>
              <a:t>  - 책 카드 (도서 대여)</a:t>
            </a:r>
            <a:br/>
            <a:r>
              <a:t>• micro:bit MBL 센서</a:t>
            </a:r>
            <a:br/>
            <a:r>
              <a:t>  - 온도, 조도, 소음, 가속도</a:t>
            </a:r>
            <a:br/>
            <a:r>
              <a:t>• 햄스터 로봇 탐사 출동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60320" y="1965960"/>
            <a:ext cx="1691640" cy="182880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defRPr sz="850" b="0">
                <a:solidFill>
                  <a:srgbClr val="141414"/>
                </a:solidFill>
                <a:latin typeface="Malgun Gothic"/>
              </a:defRPr>
            </a:pPr>
            <a:r>
              <a:t>• 리더기 모드별 분기</a:t>
            </a:r>
            <a:br/>
            <a:r>
              <a:t>  - 출석/과학실/도서/체육</a:t>
            </a:r>
            <a:br/>
            <a:r>
              <a:t>• 로컬 SQLite 트랜잭션</a:t>
            </a:r>
            <a:br/>
            <a:r>
              <a:t>  - 출결, 스탬프, 대여 기록</a:t>
            </a:r>
            <a:br/>
            <a:r>
              <a:t>• Upstage Solar AI 분석</a:t>
            </a:r>
            <a:br/>
            <a:r>
              <a:t>  - 감정 체크인 &amp; 체력 피드백</a:t>
            </a:r>
            <a:br/>
            <a:r>
              <a:t>• SSE 실시간 브로드캐스트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26280" y="1965960"/>
            <a:ext cx="1783080" cy="182880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defRPr sz="850" b="0">
                <a:solidFill>
                  <a:srgbClr val="141414"/>
                </a:solidFill>
                <a:latin typeface="Malgun Gothic"/>
              </a:defRPr>
            </a:pPr>
            <a:r>
              <a:t>• 대형 모니터 실시간 안내</a:t>
            </a:r>
            <a:br/>
            <a:r>
              <a:t>  - 출석 완료 &amp; 획득 점수</a:t>
            </a:r>
            <a:br/>
            <a:r>
              <a:t>  - Solar AI 따뜻한 격려</a:t>
            </a:r>
            <a:br/>
            <a:r>
              <a:t>  - 패스포트 스탬프 (💮)</a:t>
            </a:r>
            <a:br/>
            <a:r>
              <a:t>  - 교구 대여 현황 &amp; MSDS</a:t>
            </a:r>
            <a:br/>
            <a:r>
              <a:t>• 원클릭 엑셀(CSV) 저장</a:t>
            </a:r>
            <a:br/>
            <a:r>
              <a:t>  - 나이스/생기부 반영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4800600"/>
            <a:ext cx="5669280" cy="146304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defRPr sz="950" b="0">
                <a:solidFill>
                  <a:srgbClr val="141414"/>
                </a:solidFill>
                <a:latin typeface="Malgun Gothic"/>
              </a:defRPr>
            </a:pPr>
            <a:r>
              <a:t>1. 하드웨어 호환성: 학교 컴퓨터실마다 OS(Win 10/11)와 COM 포트 번호가 다른데, 시리얼 포트 자동 감지(Auto-detect) 및 USB HID 키보드 모드 겸용 구조가 안정적인지 점검받고 싶습니다.</a:t>
            </a:r>
            <a:br/>
            <a:r>
              <a:t>2. 피지컬 교구 다이렉트 연동: 지능형 과학실의 마이크로비트(SciBit) 및 햄스터 로봇(SciBot) 데이터를 브라우저의 Web Serial/Bluetooth API로 연동할 때의 보안 가이드라인이 궁금합니다.</a:t>
            </a:r>
            <a:br/>
            <a:r>
              <a:t>3. 오프라인 AI 폴백(Fallback): 교실 내 인터넷이 일시적으로 끊겼을 때 Upstage Solar AI 호출 실패를 대비한 오프라인 룰베이스 피드백 전환 설계가 적절한지 자문을 구합니다.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640080" cy="640080"/>
          </a:xfrm>
          <a:prstGeom prst="roundRect">
            <a:avLst>
              <a:gd name="adj" fmla="val 21429"/>
            </a:avLst>
          </a:prstGeom>
          <a:solidFill>
            <a:srgbClr val="FFD166"/>
          </a:solidFill>
          <a:ln w="19050">
            <a:solidFill>
              <a:srgbClr val="232B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32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34440" y="3657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32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정하기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361688" y="5669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32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모둠명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230368" y="841248"/>
            <a:ext cx="1874520" cy="0"/>
          </a:xfrm>
          <a:prstGeom prst="line">
            <a:avLst/>
          </a:prstGeom>
          <a:noFill/>
          <a:ln w="12700">
            <a:solidFill>
              <a:srgbClr val="232B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6647688" cy="0"/>
          </a:xfrm>
          <a:prstGeom prst="line">
            <a:avLst/>
          </a:prstGeom>
          <a:noFill/>
          <a:ln w="9525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1783080" cy="292608"/>
          </a:xfrm>
          <a:prstGeom prst="roundRect">
            <a:avLst>
              <a:gd name="adj" fmla="val 18750"/>
            </a:avLst>
          </a:prstGeom>
          <a:solidFill>
            <a:srgbClr val="232B3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57200" y="137160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 결과물 이름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377440" y="1371600"/>
            <a:ext cx="4727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E76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가칭 · 나중에 바꿔도 됨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755648"/>
            <a:ext cx="6647688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5875">
            <a:solidFill>
              <a:srgbClr val="232B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640080" y="2139696"/>
            <a:ext cx="6281928" cy="0"/>
          </a:xfrm>
          <a:prstGeom prst="line">
            <a:avLst/>
          </a:prstGeom>
          <a:noFill/>
          <a:ln w="12700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457200" y="2487168"/>
            <a:ext cx="1783080" cy="292608"/>
          </a:xfrm>
          <a:prstGeom prst="roundRect">
            <a:avLst>
              <a:gd name="adj" fmla="val 18750"/>
            </a:avLst>
          </a:prstGeom>
          <a:solidFill>
            <a:srgbClr val="232B3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57200" y="248716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11. 한 줄 소개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377440" y="2487168"/>
            <a:ext cx="4727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E76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만들려는 것 한 문장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871216"/>
            <a:ext cx="664768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457200" y="3200400"/>
            <a:ext cx="6647688" cy="0"/>
          </a:xfrm>
          <a:prstGeom prst="line">
            <a:avLst/>
          </a:prstGeom>
          <a:noFill/>
          <a:ln w="6350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457200" y="3758184"/>
            <a:ext cx="1636776" cy="292608"/>
          </a:xfrm>
          <a:prstGeom prst="roundRect">
            <a:avLst>
              <a:gd name="adj" fmla="val 18750"/>
            </a:avLst>
          </a:prstGeom>
          <a:solidFill>
            <a:srgbClr val="232B3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457200" y="3758184"/>
            <a:ext cx="1636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12. 역할 분담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231136" y="3758184"/>
            <a:ext cx="4873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E76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팀원별 담당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14223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E76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468880" y="4142232"/>
            <a:ext cx="4636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E76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4727448"/>
            <a:ext cx="6647688" cy="0"/>
          </a:xfrm>
          <a:prstGeom prst="line">
            <a:avLst/>
          </a:prstGeom>
          <a:noFill/>
          <a:ln w="6350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2468880" y="4416552"/>
            <a:ext cx="0" cy="310896"/>
          </a:xfrm>
          <a:prstGeom prst="line">
            <a:avLst/>
          </a:prstGeom>
          <a:noFill/>
          <a:ln w="6350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457200" y="5038344"/>
            <a:ext cx="6647688" cy="0"/>
          </a:xfrm>
          <a:prstGeom prst="line">
            <a:avLst/>
          </a:prstGeom>
          <a:noFill/>
          <a:ln w="6350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2468880" y="4727448"/>
            <a:ext cx="0" cy="310896"/>
          </a:xfrm>
          <a:prstGeom prst="line">
            <a:avLst/>
          </a:prstGeom>
          <a:noFill/>
          <a:ln w="6350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457200" y="5349240"/>
            <a:ext cx="6647688" cy="0"/>
          </a:xfrm>
          <a:prstGeom prst="line">
            <a:avLst/>
          </a:prstGeom>
          <a:noFill/>
          <a:ln w="6350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2468880" y="5038344"/>
            <a:ext cx="0" cy="310896"/>
          </a:xfrm>
          <a:prstGeom prst="line">
            <a:avLst/>
          </a:prstGeom>
          <a:noFill/>
          <a:ln w="6350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457200" y="5660136"/>
            <a:ext cx="6647688" cy="0"/>
          </a:xfrm>
          <a:prstGeom prst="line">
            <a:avLst/>
          </a:prstGeom>
          <a:noFill/>
          <a:ln w="6350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2468880" y="5349240"/>
            <a:ext cx="0" cy="310896"/>
          </a:xfrm>
          <a:prstGeom prst="line">
            <a:avLst/>
          </a:prstGeom>
          <a:noFill/>
          <a:ln w="6350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457200" y="5971032"/>
            <a:ext cx="6647688" cy="0"/>
          </a:xfrm>
          <a:prstGeom prst="line">
            <a:avLst/>
          </a:prstGeom>
          <a:noFill/>
          <a:ln w="6350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2468880" y="5660136"/>
            <a:ext cx="0" cy="310896"/>
          </a:xfrm>
          <a:prstGeom prst="line">
            <a:avLst/>
          </a:prstGeom>
          <a:noFill/>
          <a:ln w="6350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457200" y="6199632"/>
            <a:ext cx="1636776" cy="292608"/>
          </a:xfrm>
          <a:prstGeom prst="roundRect">
            <a:avLst>
              <a:gd name="adj" fmla="val 18750"/>
            </a:avLst>
          </a:prstGeom>
          <a:solidFill>
            <a:srgbClr val="232B3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457200" y="6199632"/>
            <a:ext cx="1636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13. 완성 기준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2231136" y="6199632"/>
            <a:ext cx="4873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E76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이것이 되면 완성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6583680"/>
            <a:ext cx="6647688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457200" y="6912864"/>
            <a:ext cx="6647688" cy="0"/>
          </a:xfrm>
          <a:prstGeom prst="line">
            <a:avLst/>
          </a:prstGeom>
          <a:noFill/>
          <a:ln w="6350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457200" y="7242048"/>
            <a:ext cx="6647688" cy="0"/>
          </a:xfrm>
          <a:prstGeom prst="line">
            <a:avLst/>
          </a:prstGeom>
          <a:noFill/>
          <a:ln w="6350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7"/>
          <p:cNvSpPr/>
          <p:nvPr/>
        </p:nvSpPr>
        <p:spPr>
          <a:xfrm>
            <a:off x="457200" y="10186416"/>
            <a:ext cx="6647688" cy="0"/>
          </a:xfrm>
          <a:prstGeom prst="line">
            <a:avLst/>
          </a:prstGeom>
          <a:noFill/>
          <a:ln w="9525">
            <a:solidFill>
              <a:srgbClr val="B9BE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/>
          <p:nvPr/>
        </p:nvSpPr>
        <p:spPr>
          <a:xfrm>
            <a:off x="457200" y="10232136"/>
            <a:ext cx="6099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6AB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기업 연계 정보교원 역량강화 프로젝트 · 해커톤 팀 기획서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556248" y="102321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6AB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4</a:t>
            </a:r>
            <a:endParaRPr lang="en-US" sz="900" dirty="0"/>
          </a:p>
        </p:txBody>
      </p:sp>
      <p:sp>
        <p:nvSpPr>
          <p:cNvPr id="42" name="TextBox 41"/>
          <p:cNvSpPr txBox="1"/>
          <p:nvPr/>
        </p:nvSpPr>
        <p:spPr>
          <a:xfrm>
            <a:off x="4389120" y="777240"/>
            <a:ext cx="2011680" cy="27432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defRPr sz="1000" b="1">
                <a:solidFill>
                  <a:srgbClr val="0050B4"/>
                </a:solidFill>
                <a:latin typeface="Malgun Gothic"/>
              </a:defRPr>
            </a:pPr>
            <a:r>
              <a:t>NFC 에듀태그 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" y="1481328"/>
            <a:ext cx="5669280" cy="32004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defRPr sz="1200" b="1">
                <a:solidFill>
                  <a:srgbClr val="0050B4"/>
                </a:solidFill>
                <a:latin typeface="Malgun Gothic"/>
              </a:defRPr>
            </a:pPr>
            <a:r>
              <a:t>NFC 에듀태그 (NFC EduTag) - 스마트 학급 &amp; 지능형 과학실 올인원 솔루션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" y="2331720"/>
            <a:ext cx="5669280" cy="50292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defRPr sz="1050" b="1">
                <a:solidFill>
                  <a:srgbClr val="141414"/>
                </a:solidFill>
                <a:latin typeface="Malgun Gothic"/>
              </a:defRPr>
            </a:pPr>
            <a:r>
              <a:t>"카드 한 장으로 학생 출결·감정 케어부터 지능형 과학실 MBL 탐구·로봇 피지컬 AI까지 원터치로 해결하는 미래형 스마트 스쿨 올인원 솔루션"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" y="3401568"/>
            <a:ext cx="1371600" cy="36576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defRPr sz="950" b="1">
                <a:solidFill>
                  <a:srgbClr val="0050B4"/>
                </a:solidFill>
                <a:latin typeface="Malgun Gothic"/>
              </a:defRPr>
            </a:pPr>
            <a:r>
              <a:t>박찬규 (대표/개발)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11680" y="3364992"/>
            <a:ext cx="4206240" cy="45720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defRPr sz="850" b="0">
                <a:solidFill>
                  <a:srgbClr val="141414"/>
                </a:solidFill>
                <a:latin typeface="Malgun Gothic"/>
              </a:defRPr>
            </a:pPr>
            <a:r>
              <a:t>전체 아키텍처 설계, Electron 데스크톱 앱 및 Node 서버/SQLite DB 구축, 지능형 과학실(SciBit/SciBot) 연계, Upstage Solar AI 엔진 통합 및 패키징 빌드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4360" y="3931920"/>
            <a:ext cx="1371600" cy="36576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defRPr sz="950" b="1">
                <a:solidFill>
                  <a:srgbClr val="0050B4"/>
                </a:solidFill>
                <a:latin typeface="Malgun Gothic"/>
              </a:defRPr>
            </a:pPr>
            <a:r>
              <a:t>팀원 A (교육과정)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11680" y="3895344"/>
            <a:ext cx="4206240" cy="4114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defRPr sz="850" b="0">
                <a:solidFill>
                  <a:srgbClr val="141414"/>
                </a:solidFill>
                <a:latin typeface="Malgun Gothic"/>
              </a:defRPr>
            </a:pPr>
            <a:r>
              <a:t>2022 개정 교육과정 연계 교과별 탐구 미션 및 교수·학습 활동지 개발, 과학 교구/시약 MSDS 물질안전보건자료 텍스트 데이터베이스 정리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" y="4434840"/>
            <a:ext cx="1371600" cy="36576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defRPr sz="950" b="1">
                <a:solidFill>
                  <a:srgbClr val="0050B4"/>
                </a:solidFill>
                <a:latin typeface="Malgun Gothic"/>
              </a:defRPr>
            </a:pPr>
            <a:r>
              <a:t>팀원 B (디자인/검증)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011680" y="4398264"/>
            <a:ext cx="4206240" cy="4114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defRPr sz="850" b="0">
                <a:solidFill>
                  <a:srgbClr val="141414"/>
                </a:solidFill>
                <a:latin typeface="Malgun Gothic"/>
              </a:defRPr>
            </a:pPr>
            <a:r>
              <a:t>공식 3D 인포그래픽 포스터 디자인, 전자칠판 최적화 진한 굴림체 UI/CSS 튜닝, 학교 현장 시연 테스트 및 사용자 피드백 수집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" y="5440680"/>
            <a:ext cx="5669280" cy="105156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l">
              <a:defRPr sz="900" b="0">
                <a:solidFill>
                  <a:srgbClr val="141414"/>
                </a:solidFill>
                <a:latin typeface="Malgun Gothic"/>
              </a:defRPr>
            </a:pPr>
            <a:r>
              <a:t>1. 완전 독립형 배포: 인터넷이나 추가 설치 없이 학교 PC에서 NFC에듀태그.exe 더블클릭만으로 완벽 구동.</a:t>
            </a:r>
            <a:br/>
            <a:r>
              <a:t>2. NFC 올인원 다중 모드: 출석·감정 체크, 과학실 패스포트 스탬프 발급, 교구 대여/반납이 1초 내에 오류 없이 처리.</a:t>
            </a:r>
            <a:br/>
            <a:r>
              <a:t>3. 지능형 과학실 융합: kfcman.link/scibit micro:bit 센서 수집 및 kfcman.link/scibot 햄스터 로봇 탐사가 연동.</a:t>
            </a:r>
            <a:br/>
            <a:r>
              <a:t>4. 초거대 AI 및 보안: Upstage Solar AI 피드백이 실시간 생성되고, API 키와 학생 정보가 AES-256 로컬 암호화 보관.</a:t>
            </a:r>
            <a:br/>
            <a:r>
              <a:t>5. 데이터 관리: 모든 활동 기록이 엑셀(CSV)로 즉시 다운로드되고 전체 백업/복원이 가능.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208</Words>
  <Application>Microsoft Office PowerPoint</Application>
  <PresentationFormat>사용자 지정</PresentationFormat>
  <Paragraphs>69</Paragraphs>
  <Slides>4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Malgun Gothic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권호인</cp:lastModifiedBy>
  <cp:revision>2</cp:revision>
  <dcterms:created xsi:type="dcterms:W3CDTF">2026-08-12T07:29:00Z</dcterms:created>
  <dcterms:modified xsi:type="dcterms:W3CDTF">2026-08-12T07:40:55Z</dcterms:modified>
</cp:coreProperties>
</file>