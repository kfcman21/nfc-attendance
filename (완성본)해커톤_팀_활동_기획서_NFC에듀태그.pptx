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FED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문제 찾기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1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50" b="1">
                <a:solidFill>
                  <a:srgbClr val="28303C"/>
                </a:solidFill>
                <a:latin typeface="Malgun Gothic"/>
              </a:defRPr>
            </a:pPr>
            <a:r>
              <a:t>분반: 초등 정보 융합 분반         모둠명: NFC 에듀태그 팀 (Smart EduLab)</a:t>
            </a:r>
          </a:p>
          <a:p>
            <a:pPr>
              <a:spcBef>
                <a:spcPts val="400"/>
              </a:spcBef>
              <a:defRPr sz="950">
                <a:solidFill>
                  <a:srgbClr val="0064E0"/>
                </a:solidFill>
                <a:latin typeface="Malgun Gothic"/>
              </a:defRPr>
            </a:pPr>
            <a:r>
              <a:t>팀원: 박찬규(대표/개발 총괄), 팀원 A(교육과정/콘텐츠), 팀원 B(UI·UX 디자인/현장검증)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21408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1. 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10312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누구의 어떤 페인포인트인지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68880"/>
            <a:ext cx="6373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00">
                <a:solidFill>
                  <a:srgbClr val="191E24"/>
                </a:solidFill>
                <a:latin typeface="Malgun Gothic"/>
              </a:defRPr>
            </a:pPr>
            <a:r>
              <a:t>• 교사의 과중한 학급 및 과학실 관리 행정력 소모: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- 매일 아침 학생 출결 수동 체크, 지각생 파악, 학생들의 정서·마음 상태를 일일이 파악하기 어려움.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• 지능형 과학실 탐구 이력 및 안전 관리 부재: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- 과학실 스테이션(MBL, 현미경 등)별 학생 탐구 이력 관리의 어려움 및 고가 교구·화학 시약(MSDS) 대여/반납과 실험 안전 수칙 안내의 형식화.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• 분절된 학급 관리 도구의 비효율: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- 출석부, 독서 통장, 체육(PAPS) 측정, 학급 화폐가 제각각 분리되어 교사의 수업 준비 및 관리 피로도 가중.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• 교육용 AI의 무비판적 완전 자동화 위험: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- AI가 생성한 피드백이 교사의 검토 없이 학생에게 그대로 전달되어, 교사의 주체성과 학생의 비판적 사고가 함께 약화됨.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84632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2. 지금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82803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지금은 어떻게 하고 있는지 · 불편한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93792"/>
            <a:ext cx="6373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출결 및 감정: 종이 출석부나 나이스(NEIS) 수동 입력에 의존하여 학생의 정서 변화나 정시 등교 추이를 직관적으로 파악하기 어려움.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과학실 탐구: 종이 활동지 도장 날인 및 수기 대여 대장에 의존하여 교구 분실 위험이 높고 탐구 데이터 누적 불가능.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체육 및 독서: 초시계를 들고 수동으로 셔틀런 랩타임을 측정하거나 종이에 적어 체계적인 성장 분석이 어려움.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불편한 점: 클라우드 웹앱은 교실 인터넷 불안정 시 접속이 끊기며, 학생 개인정보(이름, 사진) 유출 우려가 상존함.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7571231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3. 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7552943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누가 · 어떤 상황에서 쓰는지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7918704"/>
            <a:ext cx="63733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주 사용자 1 (초·중등 교사):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아침 등교 맞이(출석/감정 AI 케어), 지능형 과학실 스테이션 탐구 수업 및 교구/시약 안전 통제, 체육 PAPS 측정, 학급 문고 및 1인 1역할 학급 화폐(지구 포인트)를 통합 정산할 때.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주 사용자 2 (초등학생):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등교 시, 과학실 탐구 코너 이동 시, 교구 대여 시 본인의 NFC 학생 카드를 리더기에 '톡' 태그할 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55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기능과 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2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모둠명: NFC 에듀태그 팀 (Smart EduLab)       |       대표: 박찬규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4. 필요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핵심 기능 위주 · 한 줄에 하나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76272"/>
            <a:ext cx="63733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NFC 원터치 정시 출석 및 점수제 : 마감시각 이전 태그 시 만점 부여 및 실시간 대시보드 시각화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Upstage Solar AI 감정 출석부 : 출석 후 기분 선택 시 초거대 AI의 맞춤형 긍정 응원 메시지 실시간 생성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스마트 과학 탐구 패스포트 : 과학실 스테이션별 NFC 태깅 미션 완주 스탬프 랠리 자동화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스마트 교구 &amp; 시약 안전 지킴이 : NFC 교구 원터치 대여/반납 및 MSDS 실험 안전 수칙 실시간 팝업 안내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SciBit 마이크로비트 MBL 연계 : micro:bit v2 센서(온도·조도·소음·가속도) 실시간 수집 및 기록 (kfcman.link/scibit)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SciBot 햄스터 피지컬 AI 탐사 연계 : 햄스터 로봇 온실 순찰 &amp; 자율주행 탐사 미션 스탬프 발급 (kfcman.link/scibot)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스마트 PAPS 셔틀런 &amp; 서킷 : 반환점 태깅으로 왕복달리기 자동 기록 및 Solar AI 체력 코칭 리포트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손바닥 도서관 &amp; 지구 포인트 상점 : 학급문고 원터치 대여 및 1인 1역할 보상 학급 화폐 경제 실습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인간 협업형(HITL) AI 교육 스튜디오 : AI-SPARC 수업 설계기 + 교사 Level 3 검토·승인 센터 + AI 감사 추적 활동지 제작기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🖥️ 바탕화면 달력 연동 : 설정 탭에서 데스크톱 달력 앱 설치 파일(exe) 원클릭 연동 실행</a:t>
            </a:r>
          </a:p>
          <a:p>
            <a:pPr>
              <a:spcBef>
                <a:spcPts val="20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✔  공공데이터 &amp; 100% 로컬 보안 : 기상청·에어코리아·NEIS 실시간 연동 및 완전 오프라인 SQLite 암호화 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961888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5. 입력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94360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넣을 자료 · 데이터 · 예시 문서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09360"/>
            <a:ext cx="63733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학생 및 교구 데이터: 학생 번호, 카드 UID, 과학실 스테이션 정보, 교구/시약 보관 위치 및 MSDS 안전 수칙.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센서 및 공공데이터: micro:bit MBL 센서값, 기상청 단기예보(기온/날씨), 에어코리아 미세먼지(PM10/PM2.5), NEIS 급식.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보안 API 키: Upstage Solar API Key (AES-256-GCM 암호화 보관).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809244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6. 만들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807415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택1 또는 혼합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8439912"/>
            <a:ext cx="63733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50">
                <a:solidFill>
                  <a:srgbClr val="191E24"/>
                </a:solidFill>
                <a:latin typeface="Malgun Gothic"/>
              </a:defRPr>
            </a:pPr>
            <a:r>
              <a:t>☐ 에이전트          ☐ 바이브코딩          ☑ 혼합 (Hybrid) — [Electron/Node 바이브코딩 + Upstage Solar AI 에이전트]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9162288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7. 사용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914400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쓸 도구 이름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9509760"/>
            <a:ext cx="637336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50">
                <a:solidFill>
                  <a:srgbClr val="191E24"/>
                </a:solidFill>
                <a:latin typeface="Malgun Gothic"/>
              </a:defRPr>
            </a:pPr>
            <a:r>
              <a:t>Node.js, Express, Electron, electron-builder, SQLite3, SerialPort, HTML5/CSS3(진한 굴림체), Upstage Solar LLM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FC8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동작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3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모둠명: NFC 에듀태그 팀 (Smart EduLab)       |       대표: 박찬규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8. 동작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단계별 내용 · 글 또는 그림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94560"/>
            <a:ext cx="1874519" cy="3931920"/>
          </a:xfrm>
          <a:prstGeom prst="roundRect">
            <a:avLst/>
          </a:prstGeom>
          <a:solidFill>
            <a:srgbClr val="FFFAEB"/>
          </a:solidFill>
          <a:ln w="19050">
            <a:solidFill>
              <a:srgbClr val="FED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wrap="square"/>
          <a:lstStyle/>
          <a:p>
            <a:pPr algn="ctr">
              <a:defRPr sz="1100" b="1">
                <a:solidFill>
                  <a:srgbClr val="A06E00"/>
                </a:solidFill>
                <a:latin typeface="Malgun Gothic"/>
              </a:defRPr>
            </a:pPr>
            <a:r>
              <a:t>1. 입 력 (Input)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NFC 카드 태그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학생 카드 (학생 식별)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스테이션 카드 (완주)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교구 카드 (대여/반납)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책 카드 (도서 대여)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micro:bit MBL 센서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온도, 조도, 소음, 가속도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햄스터 로봇 미션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온실 순찰 / 자율주행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바탕화면 달력 실행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8404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E7887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3784" y="2194560"/>
            <a:ext cx="1874519" cy="3931920"/>
          </a:xfrm>
          <a:prstGeom prst="roundRect">
            <a:avLst/>
          </a:prstGeom>
          <a:solidFill>
            <a:srgbClr val="EBFCF8"/>
          </a:solidFill>
          <a:ln w="19050">
            <a:solidFill>
              <a:srgbClr val="55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wrap="square"/>
          <a:lstStyle/>
          <a:p>
            <a:pPr algn="ctr">
              <a:defRPr sz="1100" b="1">
                <a:solidFill>
                  <a:srgbClr val="00826E"/>
                </a:solidFill>
                <a:latin typeface="Malgun Gothic"/>
              </a:defRPr>
            </a:pPr>
            <a:r>
              <a:t>2. 처 리 (Process)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리더기 모드별 분기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출석/과학실/도서/체육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로컬 SQLite 트랜잭션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출결, 스탬프, 대여 기록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Upstage Solar AI 분석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감정 체크인 응원 생성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셔틀런 맞춤 코칭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HITL Level 3 교사 검토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AI 초안 비판·수정·승인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실시간 SSE 브로드캐스트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달력 exe spawn 프로세스 구동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8404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E7887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3208" y="2194560"/>
            <a:ext cx="1874519" cy="3931920"/>
          </a:xfrm>
          <a:prstGeom prst="roundRect">
            <a:avLst/>
          </a:prstGeom>
          <a:solidFill>
            <a:srgbClr val="FFF2F5"/>
          </a:solidFill>
          <a:ln w="19050">
            <a:solidFill>
              <a:srgbClr val="FC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wrap="square"/>
          <a:lstStyle/>
          <a:p>
            <a:pPr algn="ctr">
              <a:defRPr sz="1100" b="1">
                <a:solidFill>
                  <a:srgbClr val="B43250"/>
                </a:solidFill>
                <a:latin typeface="Malgun Gothic"/>
              </a:defRPr>
            </a:pPr>
            <a:r>
              <a:t>3. 결 과 (Output)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대형 모니터 실시간 안내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정시 출석 완료 &amp; 점수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Solar AI 맞춤 격려 팝업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패스포트 스탬프 발급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교구 대여 &amp; MSDS 표출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교사 승인 피드백만 배포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AI 감사 추적 활동지 출력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탐구→질문→태깅→교정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원클릭 엑셀(CSV) 저장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나이스/생활기록부 반영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  - 100% 로컬 데이터 보존</a:t>
            </a: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19">
                <a:solidFill>
                  <a:srgbClr val="191E24"/>
                </a:solidFill>
                <a:latin typeface="Malgun Gothic"/>
              </a:defRPr>
            </a:pPr>
            <a:r>
              <a:t>• 바탕화면 달력 연동화면 표출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30936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9. 멘토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629107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막힌 것 · 멘토에게 물어볼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656832"/>
            <a:ext cx="6373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00">
                <a:solidFill>
                  <a:srgbClr val="191E24"/>
                </a:solidFill>
                <a:latin typeface="Malgun Gothic"/>
              </a:defRPr>
            </a:pPr>
            <a:r>
              <a:t>1. 하드웨어 호환성 및 안정성 검증: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 - 학교 컴퓨터실마다 OS 환경(Win 10/11)과 시리얼 COM 포트 번호가 다른데, 시리얼 포트 자동 탐지(Auto-detect) 및 USB HID 키보드 모드 겸용 구조가 실제 현장에서 안정적으로 구동되는지 점검받고 싶습니다.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2. 피지컬 컴퓨팅 교구 다이렉트 연동 정책: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 - 지능형 과학실의 마이크로비트(SciBit) 및 햄스터 로봇(SciBot) 데이터를 브라우저의 Web Serial/Web Bluetooth API로 다이렉트 연동할 때의 보안 가이드라인 및 모범 사례에 대한 자문을 구합니다.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3. 오프라인 AI 폴백(Fallback) 아키텍처: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 - 학교 교실 내 인터넷이 일시적으로 끊겼을 때 Upstage Solar AI 호출 실패를 대비하여, 오프라인 룰베이스(Rule-based) 감정 및 체육 피드백으로 부드럽게 전환되는 Fallback 설계가 적절한지 평가받고 싶습니다.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FED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목표 정하기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4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모둠명: NFC 에듀태그 팀 (Smart EduLab)       |       대표: 박찬규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10. 결과물 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가칭 · 나중에 바꿔도 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76272"/>
            <a:ext cx="6373368" cy="5943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06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64E0"/>
                </a:solidFill>
                <a:latin typeface="Malgun Gothic"/>
              </a:defRPr>
            </a:pPr>
            <a:r>
              <a:t>NFC 에듀태그 (NFC EduTag) - 스마트 학급 &amp; 지능형 과학실 올인원 솔루션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11. 한 줄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90779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만들려는 것 한 문장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73552"/>
            <a:ext cx="6373368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"카드 한 장으로 학생 출결·감정 케어부터 지능형 과학실 MBL 탐구·로봇 피지컬 AI까지 원터치로 해결하는 미래형 스마트 스쿨 올인원 솔루션"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14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12. 역할 분담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096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팀원별 담당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4462272"/>
          <a:ext cx="63733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2744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이 름</a:t>
                      </a:r>
                    </a:p>
                  </a:txBody>
                  <a:tcPr>
                    <a:solidFill>
                      <a:srgbClr val="283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담당 업무 및 역할</a:t>
                      </a:r>
                    </a:p>
                  </a:txBody>
                  <a:tcPr>
                    <a:solidFill>
                      <a:srgbClr val="2830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E0"/>
                          </a:solidFill>
                          <a:latin typeface="Malgun Gothic"/>
                        </a:defRPr>
                      </a:pPr>
                      <a:r>
                        <a:t>박찬규</a:t>
                      </a:r>
                      <a:br/>
                      <a:r>
                        <a:t>(대표 / 개발 총괄)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4"/>
                          </a:solidFill>
                          <a:latin typeface="Malgun Gothic"/>
                        </a:defRPr>
                      </a:pPr>
                      <a:r>
                        <a:t>• 전체 시스템 아키텍처 설계, Electron 데스크톱 앱 및 Node/SQLite DB 구축</a:t>
                      </a:r>
                      <a:br/>
                      <a:r>
                        <a:t>• 지능형 과학실(SciBit/SciBot) 연계 및 Upstage Solar AI 엔진 통합 개발</a:t>
                      </a:r>
                      <a:br/>
                      <a:r>
                        <a:t>• 2022 개정 교육과정 연계 기획 및 최종 독립형 패키징 빌드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E0"/>
                          </a:solidFill>
                          <a:latin typeface="Malgun Gothic"/>
                        </a:defRPr>
                      </a:pPr>
                      <a:r>
                        <a:t>팀원 A</a:t>
                      </a:r>
                      <a:br/>
                      <a:r>
                        <a:t>(교육과정 / 콘텐츠)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4"/>
                          </a:solidFill>
                          <a:latin typeface="Malgun Gothic"/>
                        </a:defRPr>
                      </a:pPr>
                      <a:r>
                        <a:t>• 2022 개정 교육과정 연계 교과별 탐구 미션 및 교수·학습 활동지 개발</a:t>
                      </a:r>
                      <a:br/>
                      <a:r>
                        <a:t>• HITL AI-SPARC 수업 설계안 및 4단계 AI 감사 추적 학생 활동지 집필</a:t>
                      </a:r>
                      <a:br/>
                      <a:r>
                        <a:t>• 과학 교구 및 화학 시약 MSDS 물질안전보건자료 텍스트 DB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E0"/>
                          </a:solidFill>
                          <a:latin typeface="Malgun Gothic"/>
                        </a:defRPr>
                      </a:pPr>
                      <a:r>
                        <a:t>팀원 B</a:t>
                      </a:r>
                      <a:br/>
                      <a:r>
                        <a:t>(UI·UX 디자인 / 검증)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4"/>
                          </a:solidFill>
                          <a:latin typeface="Malgun Gothic"/>
                        </a:defRPr>
                      </a:pPr>
                      <a:r>
                        <a:t>• 공식 3D 인포그래픽 포스터 디자인 및 전자칠판 최적화 진한 굴림체 UI 튜닝</a:t>
                      </a:r>
                      <a:br/>
                      <a:r>
                        <a:t>• 학교 현장 시연 테스트 및 기능별 트러블슈팅/사용자 피드백 수집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94360" y="681228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13. 완성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679399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이것이 되면 완성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7159752"/>
            <a:ext cx="637336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819">
                <a:solidFill>
                  <a:srgbClr val="191E24"/>
                </a:solidFill>
                <a:latin typeface="Malgun Gothic"/>
              </a:defRPr>
            </a:pPr>
            <a:r>
              <a:t>1. [필수] 완전 독립형 배포: 인터넷이나 추가 설치 없이 학교 PC에서 NFC에듀태그.exe 더블클릭만으로 100% 정상 구동.</a:t>
            </a:r>
          </a:p>
          <a:p>
            <a:pPr>
              <a:spcBef>
                <a:spcPts val="15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2. [필수] NFC 올인원 다중 모드: 학생 카드 태그 시 출석·감정 체크, 과학실 패스포트 스탬프 발급, 교구 대여/반납이 1초 내에 오류 없이 처리.</a:t>
            </a:r>
          </a:p>
          <a:p>
            <a:pPr>
              <a:spcBef>
                <a:spcPts val="15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3. [필수] 지능형 과학실 융합: kfcman.link/scibit micro:bit 센서 수집 및 kfcman.link/scibot 햄스터 로봇 탐사 미션이 패스포트에 정상 연동.</a:t>
            </a:r>
          </a:p>
          <a:p>
            <a:pPr>
              <a:spcBef>
                <a:spcPts val="15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4. [필수] 초거대 AI 및 로컬 보안: Upstage Solar AI 피드백이 실시간 생성되고, API 키와 학생 정보가 AES-256 로컬 암호화로 안전하게 보관.</a:t>
            </a:r>
          </a:p>
          <a:p>
            <a:pPr>
              <a:spcBef>
                <a:spcPts val="15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5. [필수] 교사용 데이터 관리: 모든 활동 기록이 클릭 한 번으로 엑셀(CSV)로 즉시 다운로드되고 전체 백업/복원이 완벽 지원.</a:t>
            </a:r>
          </a:p>
          <a:p>
            <a:pPr>
              <a:spcBef>
                <a:spcPts val="15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6. [필수] 인간 협업형(HITL) 검증: AI 피드백이 교사의 Level 3 검토·승인을 거친 뒤에만 학생에게 배포되며, AI-SPARC 수업 설계안과 4단계 AI 감사 추적 활동지가 정상 생성.</a:t>
            </a:r>
          </a:p>
          <a:p>
            <a:pPr>
              <a:spcBef>
                <a:spcPts val="150"/>
              </a:spcBef>
              <a:defRPr sz="819">
                <a:solidFill>
                  <a:srgbClr val="191E24"/>
                </a:solidFill>
                <a:latin typeface="Malgun Gothic"/>
              </a:defRPr>
            </a:pPr>
            <a:r>
              <a:t>7. [선택] 바탕화면 달력 연동: 데스크톱 달력 설치 파일(exe) 경로 설정 시 원클릭 프로세스 실행 기능 정상 작동.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